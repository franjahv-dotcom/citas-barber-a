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Documentacion_segunda_entrega_barberia.docx, segunda entrega, 23 de septiembre de 2026. Presentación: explicar que esta segunda entrega implementa y evalúa la propuesta de la primera, que permanece sin cambios. Duración sugerida: 10 a 15 minutos, además de la demostración si el docente dispone de tiempo.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Documentacion_segunda_entrega_barberia.docx, segunda entrega, 23 de septiembre de 2026. La propuesta inicial identifica información dispersa entre mensajes y anotaciones. Esto puede provocar cruces y pérdida de cambios. No se ha medido una reducción real de ausencias. El objetivo implementado es centralizar la agenda y mantener su historial.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Documentacion_segunda_entrega_barberia.docx, segunda entrega, 23 de septiembre de 2026. El cliente reserva sin crear una cuenta. El administrador se autentica y mantiene los catálogos, jornadas, bloqueos y estados. Se conservan las exclusiones de la primera entrega: pagos, inventario y recordatorios automáticos. Las reservas públicas nacen confirmadas. El estado pendiente existe en el modelo, pero no tiene un flujo público de creación.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Documentacion_segunda_entrega_barberia.docx, segunda entrega, 23 de septiembre de 2026. El navegador presenta los formularios y la agenda. Express recibe las solicitudes y ejecuta las reglas del negocio. MySQL conserva los datos. La validación decisiva ocurre en el servidor, incluso si el navegador ya validó el formulario. Fuente visual: figura 1 del documento. Referencias: https://dev.mysql.com/doc/refman/8.0/en/innodb-locking-reads.html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Documentacion_segunda_entrega_barberia.docx, segunda entrega, 23 de septiembre de 2026. Las citas relacionan cliente, servicio y barbero. Se guarda su intervalo para conservar la duración reservada aunque cambie el catálogo. Jornadas y bloqueos determinan disponibilidad. Los movimientos conservan los cambios de la cita. Fuente visual: figura 3 del documento.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Documentacion_segunda_entrega_barberia.docx, segunda entrega, 23 de septiembre de 2026. El intervalo completo debe caber en la jornada y no cruzarse con descansos, bloqueos o citas activas. Ejemplo ilustrativo: una cita de 10:00 a 10:30 entra en conflicto con una solicitud de 10:15 a 10:45. Una nueva reserva a las 10:30 puede ser válida si las demás reglas se cumplen. La comprobación vuelve a ejecutarse dentro de la transacción al guardar.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Documentacion_segunda_entrega_barberia.docx, segunda entrega, 23 de septiembre de 2026. Demostración de cinco a siete minutos: elegir un horario futuro válido y reservar con datos ficticios. Entrar al panel, localizar la cita, reprogramarla y cancelarla. Mostrar que el historial permanece. Si hay tiempo, crear un bloqueo y explicar las citas afectadas. Las capturas son evidencia del prototipo, no de una operación con clientes reales. Fuente: backend/test-results/reserva-escritorio.png y agenda-escritorio.png.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Documentacion_segunda_entrega_barberia.docx, segunda entrega, 23 de septiembre de 2026. La corrida de respaldo usa Node.js v24.19.0, MySQL 8.0.45 y Microsoft Edge 153.0.4234.48 con Playwright 1.58.2. El registro muestra 27 aprobaciones porque cuenta 26 casos ejecutables y el grupo de integración. No hay casos omitidos. Esto no equivale a cobertura total del código. Fuente: tmp/documentacion/pruebas.txt y anexos B del documento.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Documentacion_segunda_entrega_barberia.docx, segunda entrega, 23 de septiembre de 2026. El escenario envió 20 intentos concurrentes al mismo horario. El resultado fue una creación y 19 conflictos. El servidor bloquea la fila correspondiente dentro de una transacción y vuelve a validar disponibilidad. No se trata de una prueba de carga de producción. Una reprogramación rechazada conserva la cita previa. Fuente: registro de pruebas. https://dev.mysql.com/doc/refman/8.0/en/innodb-locking-reads.html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Documentacion_segunda_entrega_barberia.docx, segunda entrega, 23 de septiembre de 2026. Las veinte consultas secuenciales de disponibilidad se ejecutaron localmente con pocos datos. Mediana 16.5 ms y máximo 25.9 ms. No son tiempos de carga de la página ni una garantía en producción. Se verificó el acceso administrativo y el recorrido móvil. ISO/IEC 25010:2023 orienta la selección de criterios, sin afirmar certificación. https://committee.iso.org/standard/78176.html. Fuente: registro de pruebas y página 9 del documento.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Documentacion_segunda_entrega_barberia.docx, segunda entrega, 23 de septiembre de 2026. Chrome se revisó durante el desarrollo y Edge en la corrida de respaldo. Firefox y Safari siguen pendientes. No se realizaron pruebas con clientes, certificación o validación de políticas con un encargado. Antes del uso real se necesita evaluación adicional y preparar un despliegue seguro. El estado pendiente existe en el modelo, pero el flujo público confirma directamente.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Documentacion_segunda_entrega_barberia.docx, segunda entrega, 23 de septiembre de 2026. El prototipo convierte la propuesta de la primera entrega en un sistema funcional y verificable en el entorno local. Destacar agenda centralizada, cambios con historial y protección frente a conflictos. Aclarar que los resultados de pruebas tienen el alcance descrito. Abrir preguntas y usar el anexo F del documento como respaldo. Material preparado con asistencia de IA y basado en el proyecto y sus registros de pruebas.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603FF511-1913-493B-9A43-1FC0B319CD6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endParaRPr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6718F1B-0EBB-4228-97A8-47E63D022FEA}"/>
              </a:ext>
            </a:extLst>
          </p:cNvPr>
          <p:cNvSpPr>
            <a:spLocks noGrp="1"/>
          </p:cNvSpPr>
          <p:nvPr/>
        </p:nvSpPr>
        <p:spPr>
          <a:xfrm>
            <a:off x="11144250" y="63246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BEC6B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EC6B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58EACB4-82F5-4AE4-868E-C8EEF43BAE74}"/>
              </a:ext>
            </a:extLst>
          </p:cNvPr>
          <p:cNvSpPr>
            <a:spLocks noGrp="1"/>
          </p:cNvSpPr>
          <p:nvPr/>
        </p:nvSpPr>
        <p:spPr>
          <a:xfrm>
            <a:off x="666750" y="876300"/>
            <a:ext cx="7239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DABD77"/>
                </a:solidFill>
                <a:latin typeface="Arial"/>
                <a:ea typeface="Arial"/>
                <a:cs typeface="Arial"/>
              </a:defRPr>
            </a:pPr>
            <a:endParaRPr sz="1875" b="1" dirty="0">
              <a:solidFill>
                <a:srgbClr val="DABD7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7823173-841B-45E9-BC7F-9DF70D1FC5F7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9048750" cy="1905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700" b="1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3F0E7"/>
                </a:solidFill>
                <a:latin typeface="Arial"/>
                <a:ea typeface="Arial"/>
                <a:cs typeface="Arial"/>
              </a:rPr>
              <a:t>Sistema web</a:t>
            </a:r>
          </a:p>
          <a:p>
            <a:pPr>
              <a:defRPr sz="5700" b="1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3F0E7"/>
                </a:solidFill>
                <a:latin typeface="Arial"/>
                <a:ea typeface="Arial"/>
                <a:cs typeface="Arial"/>
              </a:rPr>
              <a:t>de citas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64296AB-FA9D-4A0B-9797-7D87063A49EC}"/>
              </a:ext>
            </a:extLst>
          </p:cNvPr>
          <p:cNvSpPr>
            <a:spLocks noGrp="1"/>
          </p:cNvSpPr>
          <p:nvPr/>
        </p:nvSpPr>
        <p:spPr>
          <a:xfrm>
            <a:off x="714375" y="43529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BEC6B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EC6BD"/>
                </a:solidFill>
                <a:latin typeface="Arial"/>
                <a:ea typeface="Arial"/>
                <a:cs typeface="Arial"/>
              </a:rPr>
              <a:t>Segunda entrega de Ingeniería de Software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53E65C8-6859-4D98-AF75-A2EAF7444478}"/>
              </a:ext>
            </a:extLst>
          </p:cNvPr>
          <p:cNvSpPr>
            <a:spLocks noGrp="1"/>
          </p:cNvSpPr>
          <p:nvPr/>
        </p:nvSpPr>
        <p:spPr>
          <a:xfrm>
            <a:off x="714375" y="5467350"/>
            <a:ext cx="10001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lang="es-MX" sz="2025" b="0" dirty="0">
                <a:solidFill>
                  <a:srgbClr val="F3F0E7"/>
                </a:solidFill>
                <a:latin typeface="Arial"/>
                <a:ea typeface="Arial"/>
                <a:cs typeface="Arial"/>
              </a:rPr>
              <a:t>Nombre</a:t>
            </a:r>
            <a:endParaRPr sz="2025" b="0" dirty="0">
              <a:solidFill>
                <a:srgbClr val="F3F0E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D26299C-A2FC-4FC1-BA4A-CC30D9C729F4}"/>
              </a:ext>
            </a:extLst>
          </p:cNvPr>
          <p:cNvSpPr>
            <a:spLocks noGrp="1"/>
          </p:cNvSpPr>
          <p:nvPr/>
        </p:nvSpPr>
        <p:spPr>
          <a:xfrm>
            <a:off x="714375" y="5934075"/>
            <a:ext cx="9525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BEC6BD"/>
                </a:solidFill>
                <a:latin typeface="Arial"/>
                <a:ea typeface="Arial"/>
                <a:cs typeface="Arial"/>
              </a:defRPr>
            </a:pPr>
            <a:r>
              <a:rPr sz="1500" b="0" dirty="0" err="1">
                <a:solidFill>
                  <a:srgbClr val="BEC6BD"/>
                </a:solidFill>
                <a:latin typeface="Arial"/>
                <a:ea typeface="Arial"/>
                <a:cs typeface="Arial"/>
              </a:rPr>
              <a:t>Septiembre</a:t>
            </a:r>
            <a:r>
              <a:rPr sz="1500" b="0" dirty="0">
                <a:solidFill>
                  <a:srgbClr val="BEC6BD"/>
                </a:solidFill>
                <a:latin typeface="Arial"/>
                <a:ea typeface="Arial"/>
                <a:cs typeface="Arial"/>
              </a:rPr>
              <a:t> de 2026</a:t>
            </a:r>
          </a:p>
        </p:txBody>
      </p:sp>
    </p:spTree>
    <p:extLst>
      <p:ext uri="{BB962C8B-B14F-4D97-AF65-F5344CB8AC3E}">
        <p14:creationId xmlns:p14="http://schemas.microsoft.com/office/powerpoint/2010/main" val="277957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2687F0DD-0116-4936-8E1A-DA9690FE3CC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3F0E7"/>
                </a:solidFill>
                <a:latin typeface="Arial"/>
                <a:ea typeface="Arial"/>
                <a:cs typeface="Arial"/>
              </a:rPr>
              <a:t>Problema y objetivo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F2B8117-0928-405A-9275-57FD8763E6B8}"/>
              </a:ext>
            </a:extLst>
          </p:cNvPr>
          <p:cNvSpPr>
            <a:spLocks noGrp="1"/>
          </p:cNvSpPr>
          <p:nvPr/>
        </p:nvSpPr>
        <p:spPr>
          <a:xfrm>
            <a:off x="11144250" y="63246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BEC6B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EC6B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C2B74C8-E40D-4991-B1C2-20EE82B79F3D}"/>
              </a:ext>
            </a:extLst>
          </p:cNvPr>
          <p:cNvSpPr>
            <a:spLocks noGrp="1"/>
          </p:cNvSpPr>
          <p:nvPr/>
        </p:nvSpPr>
        <p:spPr>
          <a:xfrm>
            <a:off x="666750" y="1657350"/>
            <a:ext cx="4762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DABD7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ABD77"/>
                </a:solidFill>
                <a:latin typeface="Arial"/>
                <a:ea typeface="Arial"/>
                <a:cs typeface="Arial"/>
              </a:rPr>
              <a:t>Situación inicial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706D146-1AED-423B-98C7-40FFA937ACBA}"/>
              </a:ext>
            </a:extLst>
          </p:cNvPr>
          <p:cNvSpPr>
            <a:spLocks noGrp="1"/>
          </p:cNvSpPr>
          <p:nvPr/>
        </p:nvSpPr>
        <p:spPr>
          <a:xfrm>
            <a:off x="666750" y="2276475"/>
            <a:ext cx="4762500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Reservas dispersas entre mensajes y anotaciones.</a:t>
            </a:r>
          </a:p>
          <a:p>
            <a:endParaRPr sz="2175" b="0">
              <a:solidFill>
                <a:srgbClr val="F3F0E7"/>
              </a:solidFill>
              <a:latin typeface="Arial"/>
              <a:ea typeface="Arial"/>
              <a:cs typeface="Arial"/>
            </a:endParaRPr>
          </a:p>
          <a:p>
            <a:pPr>
              <a:defRPr sz="217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Riesgo de cruces y pérdida de cambios.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BF4E5C0-C74D-414B-AF8C-22AB246D264A}"/>
              </a:ext>
            </a:extLst>
          </p:cNvPr>
          <p:cNvSpPr>
            <a:spLocks noGrp="1"/>
          </p:cNvSpPr>
          <p:nvPr/>
        </p:nvSpPr>
        <p:spPr>
          <a:xfrm>
            <a:off x="6667500" y="1657350"/>
            <a:ext cx="4762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DABD7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ABD77"/>
                </a:solidFill>
                <a:latin typeface="Arial"/>
                <a:ea typeface="Arial"/>
                <a:cs typeface="Arial"/>
              </a:rPr>
              <a:t>Objetivo del sistema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3776940-30BE-4A66-B6F6-DB3ED10E4AB6}"/>
              </a:ext>
            </a:extLst>
          </p:cNvPr>
          <p:cNvSpPr>
            <a:spLocks noGrp="1"/>
          </p:cNvSpPr>
          <p:nvPr/>
        </p:nvSpPr>
        <p:spPr>
          <a:xfrm>
            <a:off x="6667500" y="2276475"/>
            <a:ext cx="4762500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Consultar disponibilidad antes de reservar.</a:t>
            </a:r>
          </a:p>
          <a:p>
            <a:endParaRPr sz="2175" b="0">
              <a:solidFill>
                <a:srgbClr val="F3F0E7"/>
              </a:solidFill>
              <a:latin typeface="Arial"/>
              <a:ea typeface="Arial"/>
              <a:cs typeface="Arial"/>
            </a:endParaRPr>
          </a:p>
          <a:p>
            <a:pPr>
              <a:defRPr sz="217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Administrar los cambios en una agenda compartida.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DA0937A-2FB5-450A-A9C5-BA1EB3C1AE9A}"/>
              </a:ext>
            </a:extLst>
          </p:cNvPr>
          <p:cNvSpPr>
            <a:spLocks noGrp="1"/>
          </p:cNvSpPr>
          <p:nvPr/>
        </p:nvSpPr>
        <p:spPr>
          <a:xfrm>
            <a:off x="666750" y="5257800"/>
            <a:ext cx="107632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1">
                <a:solidFill>
                  <a:srgbClr val="DABD7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DABD77"/>
                </a:solidFill>
                <a:latin typeface="Arial"/>
                <a:ea typeface="Arial"/>
                <a:cs typeface="Arial"/>
              </a:rPr>
              <a:t>Cada cita ocupa un intervalo completo de atención.</a:t>
            </a:r>
          </a:p>
        </p:txBody>
      </p:sp>
    </p:spTree>
    <p:extLst>
      <p:ext uri="{BB962C8B-B14F-4D97-AF65-F5344CB8AC3E}">
        <p14:creationId xmlns:p14="http://schemas.microsoft.com/office/powerpoint/2010/main" val="1161010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A1222677-0B08-4E66-AE97-480A736E4D3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3F0E7"/>
                </a:solidFill>
                <a:latin typeface="Arial"/>
                <a:ea typeface="Arial"/>
                <a:cs typeface="Arial"/>
              </a:rPr>
              <a:t>Alcance y usuarios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7782D79-EBE3-4D22-A843-CA2D13604DD3}"/>
              </a:ext>
            </a:extLst>
          </p:cNvPr>
          <p:cNvSpPr>
            <a:spLocks noGrp="1"/>
          </p:cNvSpPr>
          <p:nvPr/>
        </p:nvSpPr>
        <p:spPr>
          <a:xfrm>
            <a:off x="11144250" y="63246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BEC6B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EC6B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B5D9E88-82B5-4A01-BA9B-E5E58902558D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4762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DABD7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ABD77"/>
                </a:solidFill>
                <a:latin typeface="Arial"/>
                <a:ea typeface="Arial"/>
                <a:cs typeface="Arial"/>
              </a:rPr>
              <a:t>Cliente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C55EB67-9E55-47F6-9231-D77DF80D9C4C}"/>
              </a:ext>
            </a:extLst>
          </p:cNvPr>
          <p:cNvSpPr>
            <a:spLocks noGrp="1"/>
          </p:cNvSpPr>
          <p:nvPr/>
        </p:nvSpPr>
        <p:spPr>
          <a:xfrm>
            <a:off x="666750" y="2238375"/>
            <a:ext cx="4762500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Elige servicio y barbero.</a:t>
            </a:r>
          </a:p>
          <a:p>
            <a:pPr>
              <a:defRPr sz="217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Consulta horarios.</a:t>
            </a:r>
          </a:p>
          <a:p>
            <a:pPr>
              <a:defRPr sz="217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Registra y confirma su cita.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E945717-C9FB-469F-82FD-A18D8D782B62}"/>
              </a:ext>
            </a:extLst>
          </p:cNvPr>
          <p:cNvSpPr>
            <a:spLocks noGrp="1"/>
          </p:cNvSpPr>
          <p:nvPr/>
        </p:nvSpPr>
        <p:spPr>
          <a:xfrm>
            <a:off x="6667500" y="1619250"/>
            <a:ext cx="48577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DABD7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ABD77"/>
                </a:solidFill>
                <a:latin typeface="Arial"/>
                <a:ea typeface="Arial"/>
                <a:cs typeface="Arial"/>
              </a:rPr>
              <a:t>Administrador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BC77267-0EF2-44D7-B740-41DF80988E61}"/>
              </a:ext>
            </a:extLst>
          </p:cNvPr>
          <p:cNvSpPr>
            <a:spLocks noGrp="1"/>
          </p:cNvSpPr>
          <p:nvPr/>
        </p:nvSpPr>
        <p:spPr>
          <a:xfrm>
            <a:off x="6667500" y="2238375"/>
            <a:ext cx="4857750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Mantiene la agenda y los horarios.</a:t>
            </a:r>
          </a:p>
          <a:p>
            <a:pPr>
              <a:defRPr sz="217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Reprograma o cancela citas.</a:t>
            </a:r>
          </a:p>
          <a:p>
            <a:pPr>
              <a:defRPr sz="217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Consulta clientes e historial.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E62CCF0-0EA8-440E-8F47-435C2331AE38}"/>
              </a:ext>
            </a:extLst>
          </p:cNvPr>
          <p:cNvSpPr>
            <a:spLocks noGrp="1"/>
          </p:cNvSpPr>
          <p:nvPr/>
        </p:nvSpPr>
        <p:spPr>
          <a:xfrm>
            <a:off x="666750" y="4572000"/>
            <a:ext cx="10096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DABD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DABD77"/>
                </a:solidFill>
                <a:latin typeface="Arial"/>
                <a:ea typeface="Arial"/>
                <a:cs typeface="Arial"/>
              </a:rPr>
              <a:t>Fuera del alcance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E828953-E84A-45F1-B53D-59E227D40914}"/>
              </a:ext>
            </a:extLst>
          </p:cNvPr>
          <p:cNvSpPr>
            <a:spLocks noGrp="1"/>
          </p:cNvSpPr>
          <p:nvPr/>
        </p:nvSpPr>
        <p:spPr>
          <a:xfrm>
            <a:off x="666750" y="5210175"/>
            <a:ext cx="10763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Pagos, inventario y recordatorios automáticos.</a:t>
            </a:r>
          </a:p>
        </p:txBody>
      </p:sp>
    </p:spTree>
    <p:extLst>
      <p:ext uri="{BB962C8B-B14F-4D97-AF65-F5344CB8AC3E}">
        <p14:creationId xmlns:p14="http://schemas.microsoft.com/office/powerpoint/2010/main" val="1956779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00CE5F59-BE8F-44D0-BAD0-90E18B1DCC7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92019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92019"/>
                </a:solidFill>
                <a:latin typeface="Arial"/>
                <a:ea typeface="Arial"/>
                <a:cs typeface="Arial"/>
              </a:rPr>
              <a:t>Arquitectura del sistema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450C623-FB86-4986-AEF7-468D25103384}"/>
              </a:ext>
            </a:extLst>
          </p:cNvPr>
          <p:cNvSpPr>
            <a:spLocks noGrp="1"/>
          </p:cNvSpPr>
          <p:nvPr/>
        </p:nvSpPr>
        <p:spPr>
          <a:xfrm>
            <a:off x="11144250" y="63246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3605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05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5" y="1789748"/>
            <a:ext cx="11144250" cy="2897505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A4AB193A-1834-4690-AECF-CD45C546FE9F}"/>
              </a:ext>
            </a:extLst>
          </p:cNvPr>
          <p:cNvSpPr>
            <a:spLocks noGrp="1"/>
          </p:cNvSpPr>
          <p:nvPr/>
        </p:nvSpPr>
        <p:spPr>
          <a:xfrm>
            <a:off x="666750" y="52578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201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2019"/>
                </a:solidFill>
                <a:latin typeface="Arial"/>
                <a:ea typeface="Arial"/>
                <a:cs typeface="Arial"/>
              </a:rPr>
              <a:t>El servidor controla permisos, disponibilidad y transacciones.</a:t>
            </a:r>
          </a:p>
        </p:txBody>
      </p:sp>
    </p:spTree>
    <p:extLst>
      <p:ext uri="{BB962C8B-B14F-4D97-AF65-F5344CB8AC3E}">
        <p14:creationId xmlns:p14="http://schemas.microsoft.com/office/powerpoint/2010/main" val="1645854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EB9EF654-C871-4A2C-AB10-7AA0F0F6E59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92019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92019"/>
                </a:solidFill>
                <a:latin typeface="Arial"/>
                <a:ea typeface="Arial"/>
                <a:cs typeface="Arial"/>
              </a:rPr>
              <a:t>Modelo de datos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060971F-E7DF-4103-A3AC-74164FFE5B7F}"/>
              </a:ext>
            </a:extLst>
          </p:cNvPr>
          <p:cNvSpPr>
            <a:spLocks noGrp="1"/>
          </p:cNvSpPr>
          <p:nvPr/>
        </p:nvSpPr>
        <p:spPr>
          <a:xfrm>
            <a:off x="11144250" y="63246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3605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05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33500" y="1273904"/>
            <a:ext cx="9525000" cy="489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924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71EC42E9-CB43-44A7-B766-02A760B862C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3F0E7"/>
                </a:solidFill>
                <a:latin typeface="Arial"/>
                <a:ea typeface="Arial"/>
                <a:cs typeface="Arial"/>
              </a:rPr>
              <a:t>Reglas de disponibilidad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77EFF23-9EB1-4F2E-A8C5-8FB4239E02CE}"/>
              </a:ext>
            </a:extLst>
          </p:cNvPr>
          <p:cNvSpPr>
            <a:spLocks noGrp="1"/>
          </p:cNvSpPr>
          <p:nvPr/>
        </p:nvSpPr>
        <p:spPr>
          <a:xfrm>
            <a:off x="11144250" y="63246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BEC6B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EC6B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F7B8328-D9B9-41A9-80E3-D75260F6FDEB}"/>
              </a:ext>
            </a:extLst>
          </p:cNvPr>
          <p:cNvSpPr>
            <a:spLocks noGrp="1"/>
          </p:cNvSpPr>
          <p:nvPr/>
        </p:nvSpPr>
        <p:spPr>
          <a:xfrm>
            <a:off x="714375" y="1647825"/>
            <a:ext cx="666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900" b="1">
                <a:solidFill>
                  <a:srgbClr val="DABD7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DABD7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6582DEA-D5C0-4AB1-8791-C0B5CE755CB9}"/>
              </a:ext>
            </a:extLst>
          </p:cNvPr>
          <p:cNvSpPr>
            <a:spLocks noGrp="1"/>
          </p:cNvSpPr>
          <p:nvPr/>
        </p:nvSpPr>
        <p:spPr>
          <a:xfrm>
            <a:off x="1714500" y="1724025"/>
            <a:ext cx="9239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Duración completa dentro de la jornada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BBD2C00-6BA3-40AD-BB5C-EC21B313104B}"/>
              </a:ext>
            </a:extLst>
          </p:cNvPr>
          <p:cNvSpPr>
            <a:spLocks noGrp="1"/>
          </p:cNvSpPr>
          <p:nvPr/>
        </p:nvSpPr>
        <p:spPr>
          <a:xfrm>
            <a:off x="714375" y="2771775"/>
            <a:ext cx="666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900" b="1">
                <a:solidFill>
                  <a:srgbClr val="DABD7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DABD7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DC0AC88-85AA-4F4D-9AE1-17279D375024}"/>
              </a:ext>
            </a:extLst>
          </p:cNvPr>
          <p:cNvSpPr>
            <a:spLocks noGrp="1"/>
          </p:cNvSpPr>
          <p:nvPr/>
        </p:nvSpPr>
        <p:spPr>
          <a:xfrm>
            <a:off x="1714500" y="2847975"/>
            <a:ext cx="96202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Sin descansos, bloqueos ni citas superpuestas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DBE37D5-FD39-4B69-A6D2-952AF447B963}"/>
              </a:ext>
            </a:extLst>
          </p:cNvPr>
          <p:cNvSpPr>
            <a:spLocks noGrp="1"/>
          </p:cNvSpPr>
          <p:nvPr/>
        </p:nvSpPr>
        <p:spPr>
          <a:xfrm>
            <a:off x="714375" y="3895725"/>
            <a:ext cx="666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900" b="1">
                <a:solidFill>
                  <a:srgbClr val="DABD7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DABD7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6DA8291-5140-42FC-BF7D-E0CC76D00EFA}"/>
              </a:ext>
            </a:extLst>
          </p:cNvPr>
          <p:cNvSpPr>
            <a:spLocks noGrp="1"/>
          </p:cNvSpPr>
          <p:nvPr/>
        </p:nvSpPr>
        <p:spPr>
          <a:xfrm>
            <a:off x="1714500" y="3971925"/>
            <a:ext cx="92392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Nueva validación al confirmar la reserva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5D5C49A-F86D-488C-9ADA-EC316112E751}"/>
              </a:ext>
            </a:extLst>
          </p:cNvPr>
          <p:cNvSpPr>
            <a:spLocks noGrp="1"/>
          </p:cNvSpPr>
          <p:nvPr/>
        </p:nvSpPr>
        <p:spPr>
          <a:xfrm>
            <a:off x="714375" y="5381625"/>
            <a:ext cx="10572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BEC6B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EC6BD"/>
                </a:solidFill>
                <a:latin typeface="Arial"/>
                <a:ea typeface="Arial"/>
                <a:cs typeface="Arial"/>
              </a:rPr>
              <a:t>Ejemplo: 10:00–10:30 y 10:15–10:45 se cruzan.</a:t>
            </a:r>
          </a:p>
        </p:txBody>
      </p:sp>
    </p:spTree>
    <p:extLst>
      <p:ext uri="{BB962C8B-B14F-4D97-AF65-F5344CB8AC3E}">
        <p14:creationId xmlns:p14="http://schemas.microsoft.com/office/powerpoint/2010/main" val="278362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3C39D15-80F8-4413-9DBD-C1767F8D031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3F0E7"/>
                </a:solidFill>
                <a:latin typeface="Arial"/>
                <a:ea typeface="Arial"/>
                <a:cs typeface="Arial"/>
              </a:rPr>
              <a:t>Recorrido del cliente y del administrador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7086756-DE44-45C3-B7EF-D405A260EFAD}"/>
              </a:ext>
            </a:extLst>
          </p:cNvPr>
          <p:cNvSpPr>
            <a:spLocks noGrp="1"/>
          </p:cNvSpPr>
          <p:nvPr/>
        </p:nvSpPr>
        <p:spPr>
          <a:xfrm>
            <a:off x="11144250" y="63246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BEC6B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EC6B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93939" y="1400175"/>
            <a:ext cx="3889121" cy="3381375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740236" y="1400175"/>
            <a:ext cx="4426527" cy="338137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33F83FE6-238F-4E4C-8D0B-D0C724535213}"/>
              </a:ext>
            </a:extLst>
          </p:cNvPr>
          <p:cNvSpPr>
            <a:spLocks noGrp="1"/>
          </p:cNvSpPr>
          <p:nvPr/>
        </p:nvSpPr>
        <p:spPr>
          <a:xfrm>
            <a:off x="666750" y="4943475"/>
            <a:ext cx="48577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DABD7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ABD77"/>
                </a:solidFill>
                <a:latin typeface="Arial"/>
                <a:ea typeface="Arial"/>
                <a:cs typeface="Arial"/>
              </a:rPr>
              <a:t>Reserva pública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355F1B6-688B-484D-84F0-BDF4081D3045}"/>
              </a:ext>
            </a:extLst>
          </p:cNvPr>
          <p:cNvSpPr>
            <a:spLocks noGrp="1"/>
          </p:cNvSpPr>
          <p:nvPr/>
        </p:nvSpPr>
        <p:spPr>
          <a:xfrm>
            <a:off x="6477000" y="4943475"/>
            <a:ext cx="48577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DABD7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ABD77"/>
                </a:solidFill>
                <a:latin typeface="Arial"/>
                <a:ea typeface="Arial"/>
                <a:cs typeface="Arial"/>
              </a:rPr>
              <a:t>Gestión de la agenda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ABB617C-AC51-453D-8C4C-74B7FACDCA8C}"/>
              </a:ext>
            </a:extLst>
          </p:cNvPr>
          <p:cNvSpPr>
            <a:spLocks noGrp="1"/>
          </p:cNvSpPr>
          <p:nvPr/>
        </p:nvSpPr>
        <p:spPr>
          <a:xfrm>
            <a:off x="666750" y="5715000"/>
            <a:ext cx="107632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Reservar, localizar la cita, reprogramar y conservar el historial.</a:t>
            </a:r>
          </a:p>
        </p:txBody>
      </p:sp>
    </p:spTree>
    <p:extLst>
      <p:ext uri="{BB962C8B-B14F-4D97-AF65-F5344CB8AC3E}">
        <p14:creationId xmlns:p14="http://schemas.microsoft.com/office/powerpoint/2010/main" val="1432529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65C87E6-7D92-4BA5-A798-0B50D049A24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3F0E7"/>
                </a:solidFill>
                <a:latin typeface="Arial"/>
                <a:ea typeface="Arial"/>
                <a:cs typeface="Arial"/>
              </a:rPr>
              <a:t>Pruebas funcionales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7ACBE3F-F141-42E3-BAA2-D591F9B2B38D}"/>
              </a:ext>
            </a:extLst>
          </p:cNvPr>
          <p:cNvSpPr>
            <a:spLocks noGrp="1"/>
          </p:cNvSpPr>
          <p:nvPr/>
        </p:nvSpPr>
        <p:spPr>
          <a:xfrm>
            <a:off x="11144250" y="63246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BEC6B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EC6B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AC4B35D-54CA-45C9-8164-B6DE46C20992}"/>
              </a:ext>
            </a:extLst>
          </p:cNvPr>
          <p:cNvSpPr>
            <a:spLocks noGrp="1"/>
          </p:cNvSpPr>
          <p:nvPr/>
        </p:nvSpPr>
        <p:spPr>
          <a:xfrm>
            <a:off x="666750" y="1676400"/>
            <a:ext cx="3905250" cy="1524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700" b="1">
                <a:solidFill>
                  <a:srgbClr val="DABD77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DABD77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9C0435B-19B8-4103-8401-5D77CDA15FAE}"/>
              </a:ext>
            </a:extLst>
          </p:cNvPr>
          <p:cNvSpPr>
            <a:spLocks noGrp="1"/>
          </p:cNvSpPr>
          <p:nvPr/>
        </p:nvSpPr>
        <p:spPr>
          <a:xfrm>
            <a:off x="733425" y="3457575"/>
            <a:ext cx="400050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casos ejecutables aprobados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94F8BB2-8D41-4780-9AFB-234598AEC17C}"/>
              </a:ext>
            </a:extLst>
          </p:cNvPr>
          <p:cNvSpPr>
            <a:spLocks noGrp="1"/>
          </p:cNvSpPr>
          <p:nvPr/>
        </p:nvSpPr>
        <p:spPr>
          <a:xfrm>
            <a:off x="6667500" y="1809750"/>
            <a:ext cx="4476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050" b="1">
                <a:solidFill>
                  <a:srgbClr val="DABD77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DABD77"/>
                </a:solidFill>
                <a:latin typeface="Arial"/>
                <a:ea typeface="Arial"/>
                <a:cs typeface="Arial"/>
              </a:rPr>
              <a:t>0 fallos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4E0367E-9B78-448C-B72B-97AAA325F204}"/>
              </a:ext>
            </a:extLst>
          </p:cNvPr>
          <p:cNvSpPr>
            <a:spLocks noGrp="1"/>
          </p:cNvSpPr>
          <p:nvPr/>
        </p:nvSpPr>
        <p:spPr>
          <a:xfrm>
            <a:off x="6667500" y="2838450"/>
            <a:ext cx="4857750" cy="2714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Validaciones y permisos</a:t>
            </a:r>
          </a:p>
          <a:p>
            <a:endParaRPr sz="2175" b="0">
              <a:solidFill>
                <a:srgbClr val="F3F0E7"/>
              </a:solidFill>
              <a:latin typeface="Arial"/>
              <a:ea typeface="Arial"/>
              <a:cs typeface="Arial"/>
            </a:endParaRPr>
          </a:p>
          <a:p>
            <a:pPr>
              <a:defRPr sz="217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Reservas y cambios de estado</a:t>
            </a:r>
          </a:p>
          <a:p>
            <a:endParaRPr sz="2175" b="0">
              <a:solidFill>
                <a:srgbClr val="F3F0E7"/>
              </a:solidFill>
              <a:latin typeface="Arial"/>
              <a:ea typeface="Arial"/>
              <a:cs typeface="Arial"/>
            </a:endParaRPr>
          </a:p>
          <a:p>
            <a:pPr>
              <a:defRPr sz="217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Concurrencia y recorrido visual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CAC9418-BCDD-407E-B126-4AF551723A3C}"/>
              </a:ext>
            </a:extLst>
          </p:cNvPr>
          <p:cNvSpPr>
            <a:spLocks noGrp="1"/>
          </p:cNvSpPr>
          <p:nvPr/>
        </p:nvSpPr>
        <p:spPr>
          <a:xfrm>
            <a:off x="714375" y="5876925"/>
            <a:ext cx="10572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BEC6B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EC6BD"/>
                </a:solidFill>
                <a:latin typeface="Arial"/>
                <a:ea typeface="Arial"/>
                <a:cs typeface="Arial"/>
              </a:rPr>
              <a:t>El registro suma 27 resultados al incluir el grupo de integración.</a:t>
            </a:r>
          </a:p>
        </p:txBody>
      </p:sp>
    </p:spTree>
    <p:extLst>
      <p:ext uri="{BB962C8B-B14F-4D97-AF65-F5344CB8AC3E}">
        <p14:creationId xmlns:p14="http://schemas.microsoft.com/office/powerpoint/2010/main" val="2115816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2524DB2A-3CDE-40E7-B928-5DDE868D71B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3F0E7"/>
                </a:solidFill>
                <a:latin typeface="Arial"/>
                <a:ea typeface="Arial"/>
                <a:cs typeface="Arial"/>
              </a:rPr>
              <a:t>Reservas simultáneas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0B6C4B2-79E7-4935-9D72-9849CC00B3F3}"/>
              </a:ext>
            </a:extLst>
          </p:cNvPr>
          <p:cNvSpPr>
            <a:spLocks noGrp="1"/>
          </p:cNvSpPr>
          <p:nvPr/>
        </p:nvSpPr>
        <p:spPr>
          <a:xfrm>
            <a:off x="11144250" y="63246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BEC6B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EC6B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0598D8F-6802-4681-B784-2BE32847E829}"/>
              </a:ext>
            </a:extLst>
          </p:cNvPr>
          <p:cNvSpPr>
            <a:spLocks noGrp="1"/>
          </p:cNvSpPr>
          <p:nvPr/>
        </p:nvSpPr>
        <p:spPr>
          <a:xfrm>
            <a:off x="685800" y="1514475"/>
            <a:ext cx="10858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20 intentos al mismo horario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5FE9E62-E311-4713-8A5B-E0F7FB6B1B15}"/>
              </a:ext>
            </a:extLst>
          </p:cNvPr>
          <p:cNvSpPr>
            <a:spLocks noGrp="1"/>
          </p:cNvSpPr>
          <p:nvPr/>
        </p:nvSpPr>
        <p:spPr>
          <a:xfrm>
            <a:off x="857250" y="2667000"/>
            <a:ext cx="3810000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400" b="1">
                <a:solidFill>
                  <a:srgbClr val="DABD77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DABD7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48154A8-6B8E-4538-8BBD-37E00EB00921}"/>
              </a:ext>
            </a:extLst>
          </p:cNvPr>
          <p:cNvSpPr>
            <a:spLocks noGrp="1"/>
          </p:cNvSpPr>
          <p:nvPr/>
        </p:nvSpPr>
        <p:spPr>
          <a:xfrm>
            <a:off x="857250" y="4362450"/>
            <a:ext cx="4476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reserva creada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5A987DD-7F7B-4B50-9893-BE6DD551C133}"/>
              </a:ext>
            </a:extLst>
          </p:cNvPr>
          <p:cNvSpPr>
            <a:spLocks noGrp="1"/>
          </p:cNvSpPr>
          <p:nvPr/>
        </p:nvSpPr>
        <p:spPr>
          <a:xfrm>
            <a:off x="6953250" y="2667000"/>
            <a:ext cx="4191000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400" b="1">
                <a:solidFill>
                  <a:srgbClr val="DABD77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DABD77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451D83B-A3F1-4F7F-870D-36DD10BBDE46}"/>
              </a:ext>
            </a:extLst>
          </p:cNvPr>
          <p:cNvSpPr>
            <a:spLocks noGrp="1"/>
          </p:cNvSpPr>
          <p:nvPr/>
        </p:nvSpPr>
        <p:spPr>
          <a:xfrm>
            <a:off x="6953250" y="4362450"/>
            <a:ext cx="45720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rechazos por conflicto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477DF84-64BE-41B2-896A-60679035C14D}"/>
              </a:ext>
            </a:extLst>
          </p:cNvPr>
          <p:cNvSpPr>
            <a:spLocks noGrp="1"/>
          </p:cNvSpPr>
          <p:nvPr/>
        </p:nvSpPr>
        <p:spPr>
          <a:xfrm>
            <a:off x="714375" y="5705475"/>
            <a:ext cx="10572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BEC6B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EC6BD"/>
                </a:solidFill>
                <a:latin typeface="Arial"/>
                <a:ea typeface="Arial"/>
                <a:cs typeface="Arial"/>
              </a:rPr>
              <a:t>La transacción vuelve a comprobar el intervalo antes de guardar.</a:t>
            </a:r>
          </a:p>
        </p:txBody>
      </p:sp>
    </p:spTree>
    <p:extLst>
      <p:ext uri="{BB962C8B-B14F-4D97-AF65-F5344CB8AC3E}">
        <p14:creationId xmlns:p14="http://schemas.microsoft.com/office/powerpoint/2010/main" val="1604256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07F5A702-004F-423D-8CCA-5C01529F7BC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3F0E7"/>
                </a:solidFill>
                <a:latin typeface="Arial"/>
                <a:ea typeface="Arial"/>
                <a:cs typeface="Arial"/>
              </a:rPr>
              <a:t>Evaluación de calidad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29D1273-2C86-41D9-8A1F-C9B895982246}"/>
              </a:ext>
            </a:extLst>
          </p:cNvPr>
          <p:cNvSpPr>
            <a:spLocks noGrp="1"/>
          </p:cNvSpPr>
          <p:nvPr/>
        </p:nvSpPr>
        <p:spPr>
          <a:xfrm>
            <a:off x="11144250" y="63246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BEC6B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EC6B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02526D7-86A4-44FC-B425-22CEA63C07CF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5238750" cy="1238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700" b="1">
                <a:solidFill>
                  <a:srgbClr val="DABD77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DABD77"/>
                </a:solidFill>
                <a:latin typeface="Arial"/>
                <a:ea typeface="Arial"/>
                <a:cs typeface="Arial"/>
              </a:rPr>
              <a:t>16.5 ms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292A2AA-86EC-4209-98D8-FAAD70F82033}"/>
              </a:ext>
            </a:extLst>
          </p:cNvPr>
          <p:cNvSpPr>
            <a:spLocks noGrp="1"/>
          </p:cNvSpPr>
          <p:nvPr/>
        </p:nvSpPr>
        <p:spPr>
          <a:xfrm>
            <a:off x="714375" y="2905125"/>
            <a:ext cx="514350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mediana de consulta de disponibilidad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E787853-D051-403B-A0DC-0D08BF0F9D5A}"/>
              </a:ext>
            </a:extLst>
          </p:cNvPr>
          <p:cNvSpPr>
            <a:spLocks noGrp="1"/>
          </p:cNvSpPr>
          <p:nvPr/>
        </p:nvSpPr>
        <p:spPr>
          <a:xfrm>
            <a:off x="6667500" y="1619250"/>
            <a:ext cx="4762500" cy="1238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700" b="1">
                <a:solidFill>
                  <a:srgbClr val="DABD77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DABD77"/>
                </a:solidFill>
                <a:latin typeface="Arial"/>
                <a:ea typeface="Arial"/>
                <a:cs typeface="Arial"/>
              </a:rPr>
              <a:t>25.9 ms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1B3E14B-2430-439F-B30F-E9FCF0C46289}"/>
              </a:ext>
            </a:extLst>
          </p:cNvPr>
          <p:cNvSpPr>
            <a:spLocks noGrp="1"/>
          </p:cNvSpPr>
          <p:nvPr/>
        </p:nvSpPr>
        <p:spPr>
          <a:xfrm>
            <a:off x="6715125" y="2905125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máximo observado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C395E33-FC27-46EE-AB7F-1B7FD54D9B90}"/>
              </a:ext>
            </a:extLst>
          </p:cNvPr>
          <p:cNvSpPr>
            <a:spLocks noGrp="1"/>
          </p:cNvSpPr>
          <p:nvPr/>
        </p:nvSpPr>
        <p:spPr>
          <a:xfrm>
            <a:off x="714375" y="4333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BEC6B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EC6BD"/>
                </a:solidFill>
                <a:latin typeface="Arial"/>
                <a:ea typeface="Arial"/>
                <a:cs typeface="Arial"/>
              </a:rPr>
              <a:t>20 consultas secuenciales en un entorno local con pocos datos.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0AEE76E-B22F-4123-B38D-D8F8F7CEB1CB}"/>
              </a:ext>
            </a:extLst>
          </p:cNvPr>
          <p:cNvSpPr>
            <a:spLocks noGrp="1"/>
          </p:cNvSpPr>
          <p:nvPr/>
        </p:nvSpPr>
        <p:spPr>
          <a:xfrm>
            <a:off x="714375" y="5495925"/>
            <a:ext cx="10572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Acceso administrativo protegido y vista móvil comprobada.</a:t>
            </a:r>
          </a:p>
        </p:txBody>
      </p:sp>
    </p:spTree>
    <p:extLst>
      <p:ext uri="{BB962C8B-B14F-4D97-AF65-F5344CB8AC3E}">
        <p14:creationId xmlns:p14="http://schemas.microsoft.com/office/powerpoint/2010/main" val="2003215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03A6B479-AF74-423F-8046-2AB5C7832B2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3F0E7"/>
                </a:solidFill>
                <a:latin typeface="Arial"/>
                <a:ea typeface="Arial"/>
                <a:cs typeface="Arial"/>
              </a:rPr>
              <a:t>Límites y mejoras pendientes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6FDCBBA-2A16-4976-A023-99C0C9CDF980}"/>
              </a:ext>
            </a:extLst>
          </p:cNvPr>
          <p:cNvSpPr>
            <a:spLocks noGrp="1"/>
          </p:cNvSpPr>
          <p:nvPr/>
        </p:nvSpPr>
        <p:spPr>
          <a:xfrm>
            <a:off x="11144250" y="63246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BEC6B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EC6B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F6AC634-C858-49DC-9C86-66AC84108F6C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4762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DABD7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ABD77"/>
                </a:solidFill>
                <a:latin typeface="Arial"/>
                <a:ea typeface="Arial"/>
                <a:cs typeface="Arial"/>
              </a:rPr>
              <a:t>Evaluación adicional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655463E-5629-4176-BAE5-65E887BB9B4F}"/>
              </a:ext>
            </a:extLst>
          </p:cNvPr>
          <p:cNvSpPr>
            <a:spLocks noGrp="1"/>
          </p:cNvSpPr>
          <p:nvPr/>
        </p:nvSpPr>
        <p:spPr>
          <a:xfrm>
            <a:off x="666750" y="2286000"/>
            <a:ext cx="4762500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Pruebas con usuarios reales.</a:t>
            </a:r>
          </a:p>
          <a:p>
            <a:endParaRPr sz="2175" b="0">
              <a:solidFill>
                <a:srgbClr val="F3F0E7"/>
              </a:solidFill>
              <a:latin typeface="Arial"/>
              <a:ea typeface="Arial"/>
              <a:cs typeface="Arial"/>
            </a:endParaRPr>
          </a:p>
          <a:p>
            <a:pPr>
              <a:defRPr sz="217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Más volumen de datos y mayor carga.</a:t>
            </a:r>
          </a:p>
          <a:p>
            <a:endParaRPr sz="2175" b="0">
              <a:solidFill>
                <a:srgbClr val="F3F0E7"/>
              </a:solidFill>
              <a:latin typeface="Arial"/>
              <a:ea typeface="Arial"/>
              <a:cs typeface="Arial"/>
            </a:endParaRPr>
          </a:p>
          <a:p>
            <a:pPr>
              <a:defRPr sz="217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Firefox y Safari.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470AE7B-6D7F-4A0E-89A8-A77846FF7642}"/>
              </a:ext>
            </a:extLst>
          </p:cNvPr>
          <p:cNvSpPr>
            <a:spLocks noGrp="1"/>
          </p:cNvSpPr>
          <p:nvPr/>
        </p:nvSpPr>
        <p:spPr>
          <a:xfrm>
            <a:off x="6667500" y="1666875"/>
            <a:ext cx="48577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DABD7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ABD77"/>
                </a:solidFill>
                <a:latin typeface="Arial"/>
                <a:ea typeface="Arial"/>
                <a:cs typeface="Arial"/>
              </a:rPr>
              <a:t>Preparación para uso real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39F497D-B4DD-4E22-8222-38258917CB8B}"/>
              </a:ext>
            </a:extLst>
          </p:cNvPr>
          <p:cNvSpPr>
            <a:spLocks noGrp="1"/>
          </p:cNvSpPr>
          <p:nvPr/>
        </p:nvSpPr>
        <p:spPr>
          <a:xfrm>
            <a:off x="6667500" y="2286000"/>
            <a:ext cx="4857750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Validar políticas con el negocio.</a:t>
            </a:r>
          </a:p>
          <a:p>
            <a:endParaRPr sz="2175" b="0">
              <a:solidFill>
                <a:srgbClr val="F3F0E7"/>
              </a:solidFill>
              <a:latin typeface="Arial"/>
              <a:ea typeface="Arial"/>
              <a:cs typeface="Arial"/>
            </a:endParaRPr>
          </a:p>
          <a:p>
            <a:pPr>
              <a:defRPr sz="217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Preparar el despliegue y los respaldos.</a:t>
            </a:r>
          </a:p>
          <a:p>
            <a:endParaRPr sz="2175" b="0">
              <a:solidFill>
                <a:srgbClr val="F3F0E7"/>
              </a:solidFill>
              <a:latin typeface="Arial"/>
              <a:ea typeface="Arial"/>
              <a:cs typeface="Arial"/>
            </a:endParaRPr>
          </a:p>
          <a:p>
            <a:pPr>
              <a:defRPr sz="217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Completar el flujo de citas pendientes si se requiere.</a:t>
            </a:r>
          </a:p>
        </p:txBody>
      </p:sp>
    </p:spTree>
    <p:extLst>
      <p:ext uri="{BB962C8B-B14F-4D97-AF65-F5344CB8AC3E}">
        <p14:creationId xmlns:p14="http://schemas.microsoft.com/office/powerpoint/2010/main" val="924149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407C5F41-E393-4C80-9175-2833F61904E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3F0E7"/>
                </a:solidFill>
                <a:latin typeface="Arial"/>
                <a:ea typeface="Arial"/>
                <a:cs typeface="Arial"/>
              </a:rPr>
              <a:t>Conclusiones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3DA49A5-8027-4627-816B-F69B9FC9D4D5}"/>
              </a:ext>
            </a:extLst>
          </p:cNvPr>
          <p:cNvSpPr>
            <a:spLocks noGrp="1"/>
          </p:cNvSpPr>
          <p:nvPr/>
        </p:nvSpPr>
        <p:spPr>
          <a:xfrm>
            <a:off x="11144250" y="63246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BEC6B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EC6B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F3EE832-6299-4D19-BB77-F7F504A49650}"/>
              </a:ext>
            </a:extLst>
          </p:cNvPr>
          <p:cNvSpPr>
            <a:spLocks noGrp="1"/>
          </p:cNvSpPr>
          <p:nvPr/>
        </p:nvSpPr>
        <p:spPr>
          <a:xfrm>
            <a:off x="666750" y="1581150"/>
            <a:ext cx="10668000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050" b="1">
                <a:solidFill>
                  <a:srgbClr val="DABD77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DABD77"/>
                </a:solidFill>
                <a:latin typeface="Arial"/>
                <a:ea typeface="Arial"/>
                <a:cs typeface="Arial"/>
              </a:rPr>
              <a:t>Una agenda compartida con</a:t>
            </a:r>
          </a:p>
          <a:p>
            <a:pPr>
              <a:defRPr sz="4050" b="1">
                <a:solidFill>
                  <a:srgbClr val="DABD77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DABD77"/>
                </a:solidFill>
                <a:latin typeface="Arial"/>
                <a:ea typeface="Arial"/>
                <a:cs typeface="Arial"/>
              </a:rPr>
              <a:t>reservas consistentes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6FFFDF8-B9BD-4296-B1B7-A1222BB297A4}"/>
              </a:ext>
            </a:extLst>
          </p:cNvPr>
          <p:cNvSpPr>
            <a:spLocks noGrp="1"/>
          </p:cNvSpPr>
          <p:nvPr/>
        </p:nvSpPr>
        <p:spPr>
          <a:xfrm>
            <a:off x="714375" y="3514725"/>
            <a:ext cx="10287000" cy="1619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El sistema conserva los cambios y controla los conflictos al guardar.</a:t>
            </a:r>
          </a:p>
          <a:p>
            <a:endParaRPr sz="2400" b="0">
              <a:solidFill>
                <a:srgbClr val="F3F0E7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Las pruebas respaldan el comportamiento observado en el entorno local.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DD98368-7A96-40B7-83F8-C8DEA6F9CCF9}"/>
              </a:ext>
            </a:extLst>
          </p:cNvPr>
          <p:cNvSpPr>
            <a:spLocks noGrp="1"/>
          </p:cNvSpPr>
          <p:nvPr/>
        </p:nvSpPr>
        <p:spPr>
          <a:xfrm>
            <a:off x="714375" y="5715000"/>
            <a:ext cx="10477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BEC6B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BEC6BD"/>
                </a:solidFill>
                <a:latin typeface="Arial"/>
                <a:ea typeface="Arial"/>
                <a:cs typeface="Arial"/>
              </a:rPr>
              <a:t>Preguntas y demostración</a:t>
            </a:r>
          </a:p>
        </p:txBody>
      </p:sp>
    </p:spTree>
    <p:extLst>
      <p:ext uri="{BB962C8B-B14F-4D97-AF65-F5344CB8AC3E}">
        <p14:creationId xmlns:p14="http://schemas.microsoft.com/office/powerpoint/2010/main" val="154186091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1387</Words>
  <Application>Microsoft Office PowerPoint</Application>
  <DocSecurity>0</DocSecurity>
  <PresentationFormat>Panorámica</PresentationFormat>
  <Paragraphs>109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Emmanuel Perea</cp:lastModifiedBy>
  <cp:revision>1</cp:revision>
  <dcterms:created xsi:type="dcterms:W3CDTF">2026-09-24T00:47:21Z</dcterms:created>
  <dcterms:modified xsi:type="dcterms:W3CDTF">2026-09-24T08:43:25Z</dcterms:modified>
</cp:coreProperties>
</file>