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80c0387aef4648" /><Relationship Type="http://schemas.openxmlformats.org/officeDocument/2006/relationships/extended-properties" Target="/docProps/app.xml" Id="R4d83e97de92d4f50" /><Relationship Type="http://schemas.openxmlformats.org/officeDocument/2006/relationships/officeDocument" Target="/ppt/presentation.xml" Id="Rc1a5b0caa6f140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1f57c8ea0841f1"/>
  </p:sldMasterIdLst>
  <p:notesMasterIdLst>
    <p:notesMasterId xmlns:r="http://schemas.openxmlformats.org/officeDocument/2006/relationships" r:id="R433f4da00ad4454c"/>
  </p:notesMasterIdLst>
  <p:sldIdLst>
    <p:sldId xmlns:r="http://schemas.openxmlformats.org/officeDocument/2006/relationships" id="256" r:id="R6b74903ef5534b7c"/>
    <p:sldId xmlns:r="http://schemas.openxmlformats.org/officeDocument/2006/relationships" id="257" r:id="Rab545630874c432c"/>
    <p:sldId xmlns:r="http://schemas.openxmlformats.org/officeDocument/2006/relationships" id="258" r:id="Rf1364ff17ad54a6c"/>
    <p:sldId xmlns:r="http://schemas.openxmlformats.org/officeDocument/2006/relationships" id="259" r:id="R0bb86b404a2344a1"/>
    <p:sldId xmlns:r="http://schemas.openxmlformats.org/officeDocument/2006/relationships" id="260" r:id="Rb03485fb18384a8e"/>
    <p:sldId xmlns:r="http://schemas.openxmlformats.org/officeDocument/2006/relationships" id="261" r:id="R87462b8116ec444a"/>
    <p:sldId xmlns:r="http://schemas.openxmlformats.org/officeDocument/2006/relationships" id="262" r:id="Rddf4ec3da4eb499d"/>
    <p:sldId xmlns:r="http://schemas.openxmlformats.org/officeDocument/2006/relationships" id="263" r:id="Ra3ad5107a91e4d62"/>
    <p:sldId xmlns:r="http://schemas.openxmlformats.org/officeDocument/2006/relationships" id="264" r:id="Ra0299b2d29ef4aa7"/>
    <p:sldId xmlns:r="http://schemas.openxmlformats.org/officeDocument/2006/relationships" id="265" r:id="R270421c52b364a84"/>
    <p:sldId xmlns:r="http://schemas.openxmlformats.org/officeDocument/2006/relationships" id="266" r:id="Rb7493f325eb047b0"/>
    <p:sldId xmlns:r="http://schemas.openxmlformats.org/officeDocument/2006/relationships" id="267" r:id="Rbb415b5c2db347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e77f48e2ee4fae" /><Relationship Type="http://schemas.openxmlformats.org/officeDocument/2006/relationships/slideMaster" Target="/ppt/slideMasters/slideMaster1.xml" Id="R071f57c8ea0841f1" /><Relationship Type="http://schemas.openxmlformats.org/officeDocument/2006/relationships/notesMaster" Target="/ppt/notesMasters/notesMaster1.xml" Id="R433f4da00ad4454c" /><Relationship Type="http://schemas.openxmlformats.org/officeDocument/2006/relationships/presProps" Target="/ppt/presProps.xml" Id="R120d0d4b3e2f4346" /><Relationship Type="http://schemas.openxmlformats.org/officeDocument/2006/relationships/tableStyles" Target="/ppt/tableStyles.xml" Id="R60739f6bb59a454f" /><Relationship Type="http://schemas.openxmlformats.org/officeDocument/2006/relationships/slide" Target="/ppt/slides/slide1.xml" Id="R6b74903ef5534b7c" /><Relationship Type="http://schemas.openxmlformats.org/officeDocument/2006/relationships/slide" Target="/ppt/slides/slide2.xml" Id="Rab545630874c432c" /><Relationship Type="http://schemas.openxmlformats.org/officeDocument/2006/relationships/slide" Target="/ppt/slides/slide3.xml" Id="Rf1364ff17ad54a6c" /><Relationship Type="http://schemas.openxmlformats.org/officeDocument/2006/relationships/slide" Target="/ppt/slides/slide4.xml" Id="R0bb86b404a2344a1" /><Relationship Type="http://schemas.openxmlformats.org/officeDocument/2006/relationships/slide" Target="/ppt/slides/slide5.xml" Id="Rb03485fb18384a8e" /><Relationship Type="http://schemas.openxmlformats.org/officeDocument/2006/relationships/slide" Target="/ppt/slides/slide6.xml" Id="R87462b8116ec444a" /><Relationship Type="http://schemas.openxmlformats.org/officeDocument/2006/relationships/slide" Target="/ppt/slides/slide7.xml" Id="Rddf4ec3da4eb499d" /><Relationship Type="http://schemas.openxmlformats.org/officeDocument/2006/relationships/slide" Target="/ppt/slides/slide8.xml" Id="Ra3ad5107a91e4d62" /><Relationship Type="http://schemas.openxmlformats.org/officeDocument/2006/relationships/slide" Target="/ppt/slides/slide9.xml" Id="Ra0299b2d29ef4aa7" /><Relationship Type="http://schemas.openxmlformats.org/officeDocument/2006/relationships/slide" Target="/ppt/slides/slide10.xml" Id="R270421c52b364a84" /><Relationship Type="http://schemas.openxmlformats.org/officeDocument/2006/relationships/slide" Target="/ppt/slides/slide11.xml" Id="Rb7493f325eb047b0" /><Relationship Type="http://schemas.openxmlformats.org/officeDocument/2006/relationships/slide" Target="/ppt/slides/slide12.xml" Id="Rbb415b5c2db347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7ca15a3f5843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60de60692e474e" /><Relationship Type="http://schemas.openxmlformats.org/officeDocument/2006/relationships/notesMaster" Target="/ppt/notesMasters/notesMaster1.xml" Id="Rbacbb797b28e47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579f9d20944efb" /><Relationship Type="http://schemas.openxmlformats.org/officeDocument/2006/relationships/notesMaster" Target="/ppt/notesMasters/notesMaster1.xml" Id="Rfbe6febf5d5c4c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a28d46ead14fdc" /><Relationship Type="http://schemas.openxmlformats.org/officeDocument/2006/relationships/notesMaster" Target="/ppt/notesMasters/notesMaster1.xml" Id="Rd5b9c50d0b664a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5f19a01cf043c2" /><Relationship Type="http://schemas.openxmlformats.org/officeDocument/2006/relationships/notesMaster" Target="/ppt/notesMasters/notesMaster1.xml" Id="R26fcfe334b5740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8a04af727a440c" /><Relationship Type="http://schemas.openxmlformats.org/officeDocument/2006/relationships/notesMaster" Target="/ppt/notesMasters/notesMaster1.xml" Id="R8ff0edb6d5af4f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815b7ec169491e" /><Relationship Type="http://schemas.openxmlformats.org/officeDocument/2006/relationships/notesMaster" Target="/ppt/notesMasters/notesMaster1.xml" Id="Rc472fe9872954b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b3c4a6a2db4fe6" /><Relationship Type="http://schemas.openxmlformats.org/officeDocument/2006/relationships/notesMaster" Target="/ppt/notesMasters/notesMaster1.xml" Id="R4ec4e6fd375e41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f1744ef0474505" /><Relationship Type="http://schemas.openxmlformats.org/officeDocument/2006/relationships/notesMaster" Target="/ppt/notesMasters/notesMaster1.xml" Id="R38ffcfa011a048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a683b25c1c4f7a" /><Relationship Type="http://schemas.openxmlformats.org/officeDocument/2006/relationships/notesMaster" Target="/ppt/notesMasters/notesMaster1.xml" Id="R849adc46478e48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01076898a946b2" /><Relationship Type="http://schemas.openxmlformats.org/officeDocument/2006/relationships/notesMaster" Target="/ppt/notesMasters/notesMaster1.xml" Id="R59a3add7db6943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3b64bccc984c48" /><Relationship Type="http://schemas.openxmlformats.org/officeDocument/2006/relationships/notesMaster" Target="/ppt/notesMasters/notesMaster1.xml" Id="R208019072ae640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e7784e5f7e4a70" /><Relationship Type="http://schemas.openxmlformats.org/officeDocument/2006/relationships/notesMaster" Target="/ppt/notesMasters/notesMaster1.xml" Id="R965b25a2ff5245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Documentacion_segunda_entrega_barberia.docx, segunda entrega, 23 de septiembre de 2026. Presentación: explicar que esta segunda entrega implementa y evalúa la propuesta de la primera, que permanece sin cambios. Duración sugerida: 10 a 15 minutos, además de la demostración si el docente dispone de tiempo.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Documentacion_segunda_entrega_barberia.docx, segunda entrega, 23 de septiembre de 2026. La propuesta inicial identifica información dispersa entre mensajes y anotaciones. Esto puede provocar cruces y pérdida de cambios. No se ha medido una reducción real de ausencias. El objetivo implementado es centralizar la agenda y mantener su historial.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Documentacion_segunda_entrega_barberia.docx, segunda entrega, 23 de septiembre de 2026. El cliente reserva sin crear una cuenta. El administrador se autentica y mantiene los catálogos, jornadas, bloqueos y estados. Se conservan las exclusiones de la primera entrega: pagos, inventario y recordatorios automáticos. Las reservas públicas nacen confirmadas. El estado pendiente existe en el modelo, pero no tiene un flujo público de creación.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Documentacion_segunda_entrega_barberia.docx, segunda entrega, 23 de septiembre de 2026. El navegador presenta los formularios y la agenda. Express recibe las solicitudes y ejecuta las reglas del negocio. MySQL conserva los datos. La validación decisiva ocurre en el servidor, incluso si el navegador ya validó el formulario. Fuente visual: figura 1 del documento. Referencias: https://dev.mysql.com/doc/refman/8.0/en/innodb-locking-reads.html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Documentacion_segunda_entrega_barberia.docx, segunda entrega, 23 de septiembre de 2026. Las citas relacionan cliente, servicio y barbero. Se guarda su intervalo para conservar la duración reservada aunque cambie el catálogo. Jornadas y bloqueos determinan disponibilidad. Los movimientos conservan los cambios de la cita. Fuente visual: figura 3 del documento.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Documentacion_segunda_entrega_barberia.docx, segunda entrega, 23 de septiembre de 2026. El intervalo completo debe caber en la jornada y no cruzarse con descansos, bloqueos o citas activas. Ejemplo ilustrativo: una cita de 10:00 a 10:30 entra en conflicto con una solicitud de 10:15 a 10:45. Una nueva reserva a las 10:30 puede ser válida si las demás reglas se cumplen. La comprobación vuelve a ejecutarse dentro de la transacción al guardar.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Documentacion_segunda_entrega_barberia.docx, segunda entrega, 23 de septiembre de 2026. Demostración de cinco a siete minutos: elegir un horario futuro válido y reservar con datos ficticios. Entrar al panel, localizar la cita, reprogramarla y cancelarla. Mostrar que el historial permanece. Si hay tiempo, crear un bloqueo y explicar las citas afectadas. Las capturas son evidencia del prototipo, no de una operación con clientes reales. Fuente: backend/test-results/reserva-escritorio.png y agenda-escritorio.png.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Documentacion_segunda_entrega_barberia.docx, segunda entrega, 23 de septiembre de 2026. La corrida de respaldo usa Node.js v24.19.0, MySQL 8.0.45 y Microsoft Edge 153.0.4234.48 con Playwright 1.58.2. El registro muestra 27 aprobaciones porque cuenta 26 casos ejecutables y el grupo de integración. No hay casos omitidos. Esto no equivale a cobertura total del código. Fuente: tmp/documentacion/pruebas.txt y anexos B del documento.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Documentacion_segunda_entrega_barberia.docx, segunda entrega, 23 de septiembre de 2026. El escenario envió 20 intentos concurrentes al mismo horario. El resultado fue una creación y 19 conflictos. El servidor bloquea la fila correspondiente dentro de una transacción y vuelve a validar disponibilidad. No se trata de una prueba de carga de producción. Una reprogramación rechazada conserva la cita previa. Fuente: registro de pruebas. https://dev.mysql.com/doc/refman/8.0/en/innodb-locking-reads.html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Documentacion_segunda_entrega_barberia.docx, segunda entrega, 23 de septiembre de 2026. Las veinte consultas secuenciales de disponibilidad se ejecutaron localmente con pocos datos. Mediana 16.5 ms y máximo 25.9 ms. No son tiempos de carga de la página ni una garantía en producción. Se verificó el acceso administrativo y el recorrido móvil. ISO/IEC 25010:2023 orienta la selección de criterios, sin afirmar certificación. https://committee.iso.org/standard/78176.html. Fuente: registro de pruebas y página 9 del documento.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Documentacion_segunda_entrega_barberia.docx, segunda entrega, 23 de septiembre de 2026. Chrome se revisó durante el desarrollo y Edge en la corrida de respaldo. Firefox y Safari siguen pendientes. No se realizaron pruebas con clientes, certificación o validación de políticas con un encargado. Antes del uso real se necesita evaluación adicional y preparar un despliegue seguro. El estado pendiente existe en el modelo, pero el flujo público confirma directamente.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Documentacion_segunda_entrega_barberia.docx, segunda entrega, 23 de septiembre de 2026. El prototipo convierte la propuesta de la primera entrega en un sistema funcional y verificable en el entorno local. Destacar agenda centralizada, cambios con historial y protección frente a conflictos. Aclarar que los resultados de pruebas tienen el alcance descrito. Abrir preguntas y usar el anexo F del documento como respaldo. Material preparado con asistencia de IA y basado en el proyecto y sus registros de pruebas.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c0af8cae5245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d0b987657b472b" /><Relationship Type="http://schemas.openxmlformats.org/officeDocument/2006/relationships/slideLayout" Target="/ppt/slideLayouts/slideLayout1.xml" Id="R360ee82a929441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0ee82a929441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572f22e8142d1" /><Relationship Type="http://schemas.openxmlformats.org/officeDocument/2006/relationships/notesSlide" Target="/ppt/notesSlides/notesSlide1.xml" Id="Rd2b147a6177a40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9147628c94fae" /><Relationship Type="http://schemas.openxmlformats.org/officeDocument/2006/relationships/notesSlide" Target="/ppt/notesSlides/notesSlide2.xml" Id="R6a743a947d2b42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38b11e94f44ae" /><Relationship Type="http://schemas.openxmlformats.org/officeDocument/2006/relationships/notesSlide" Target="/ppt/notesSlides/notesSlide3.xml" Id="Rfbd78f6815d040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c711128304ef0" /><Relationship Type="http://schemas.openxmlformats.org/officeDocument/2006/relationships/image" Target="/ppt/media/image.png" Id="R308d572f62ad408b" /><Relationship Type="http://schemas.openxmlformats.org/officeDocument/2006/relationships/notesSlide" Target="/ppt/notesSlides/notesSlide4.xml" Id="R8793b012ac7d4f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47b7e64c240cb" /><Relationship Type="http://schemas.openxmlformats.org/officeDocument/2006/relationships/image" Target="/ppt/media/image2.png" Id="R0641e7bb7a474c81" /><Relationship Type="http://schemas.openxmlformats.org/officeDocument/2006/relationships/notesSlide" Target="/ppt/notesSlides/notesSlide5.xml" Id="Rcd1a1d0ef36843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2fad0b4c24b37" /><Relationship Type="http://schemas.openxmlformats.org/officeDocument/2006/relationships/notesSlide" Target="/ppt/notesSlides/notesSlide6.xml" Id="R20bae87988fa4b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c475806df450b" /><Relationship Type="http://schemas.openxmlformats.org/officeDocument/2006/relationships/image" Target="/ppt/media/image3.png" Id="Ra3a96904722249d5" /><Relationship Type="http://schemas.openxmlformats.org/officeDocument/2006/relationships/image" Target="/ppt/media/image4.png" Id="R11f39dff877545ae" /><Relationship Type="http://schemas.openxmlformats.org/officeDocument/2006/relationships/notesSlide" Target="/ppt/notesSlides/notesSlide7.xml" Id="Ree068e05856242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55db811174784" /><Relationship Type="http://schemas.openxmlformats.org/officeDocument/2006/relationships/notesSlide" Target="/ppt/notesSlides/notesSlide8.xml" Id="Rdcac0becd6c441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1db905ccb43bd" /><Relationship Type="http://schemas.openxmlformats.org/officeDocument/2006/relationships/notesSlide" Target="/ppt/notesSlides/notesSlide9.xml" Id="R92eee5079d8d41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63aadd5184a8d" /><Relationship Type="http://schemas.openxmlformats.org/officeDocument/2006/relationships/notesSlide" Target="/ppt/notesSlides/notesSlide10.xml" Id="R3402c63254854c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6dbaaa6584188" /><Relationship Type="http://schemas.openxmlformats.org/officeDocument/2006/relationships/notesSlide" Target="/ppt/notesSlides/notesSlide11.xml" Id="Rfd47fd374cfb40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2f5fa3a444c04" /><Relationship Type="http://schemas.openxmlformats.org/officeDocument/2006/relationships/notesSlide" Target="/ppt/notesSlides/notesSlide12.xml" Id="R05924e09cdc54c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20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3FF511-1913-493B-9A43-1FC0B319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18F1B-0EBB-4228-97A8-47E63D02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EACB4-82F5-4AE4-868E-C8EEF43B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MALA VIDA BARBERS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23173-841B-45E9-BC7F-9DF70D1F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9048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3F0E7"/>
                </a:solidFill>
                <a:latin typeface="Arial"/>
                <a:ea typeface="Arial"/>
                <a:cs typeface="Arial"/>
              </a:rPr>
              <a:t>Sistema web</a:t>
            </a:r>
          </a:p>
          <a:p xmlns:a="http://schemas.openxmlformats.org/drawingml/2006/main">
            <a:pPr>
              <a:defRPr sz="5700" b="1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3F0E7"/>
                </a:solidFill>
                <a:latin typeface="Arial"/>
                <a:ea typeface="Arial"/>
                <a:cs typeface="Arial"/>
              </a:rPr>
              <a:t>de citas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296AB-FA9D-4A0B-9797-7D87063A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5292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Segunda entrega de Ingeniería de Software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E65C8-6859-4D98-AF75-A2EAF74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673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Emmanuel Perea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6299C-A2FC-4FC1-BA4A-CC30D9C7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340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INGE00031   /   Septiembre de 2026</a:t>
            </a:r>
          </a:p>
        </p:txBody>
      </p:sp>
    </p:spTree>
    <p:extLst>
      <p:ext uri="{BB962C8B-B14F-4D97-AF65-F5344CB8AC3E}">
        <p14:creationId xmlns:p14="http://schemas.microsoft.com/office/powerpoint/2010/main" val="2779574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920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7F0DD-0116-4936-8E1A-DA9690FE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3F0E7"/>
                </a:solidFill>
                <a:latin typeface="Arial"/>
                <a:ea typeface="Arial"/>
                <a:cs typeface="Arial"/>
              </a:rPr>
              <a:t>Problema y objetivo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B8117-0928-405A-9275-57FD8763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B74C8-E40D-4991-B1C2-20EE82B7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Situación inicial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6D146-1AED-423B-98C7-40FFA937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Reservas dispersas entre mensajes y anotaciones.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Riesgo de cruces y pérdida de cambios.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4E5C0-C74D-414B-AF8C-22AB246D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57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Objetivo del sistema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76940-30BE-4A66-B6F6-DB3ED10E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76475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Consultar disponibilidad antes de reservar.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Administrar los cambios en una agenda compartida.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0937A-2FB5-450A-A9C5-BA1EB3C1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Cada cita ocupa un intervalo completo de atención.</a:t>
            </a:r>
          </a:p>
        </p:txBody>
      </p:sp>
    </p:spTree>
    <p:extLst>
      <p:ext uri="{BB962C8B-B14F-4D97-AF65-F5344CB8AC3E}">
        <p14:creationId xmlns:p14="http://schemas.microsoft.com/office/powerpoint/2010/main" val="11610106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920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22677-0B08-4E66-AE97-480A736E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3F0E7"/>
                </a:solidFill>
                <a:latin typeface="Arial"/>
                <a:ea typeface="Arial"/>
                <a:cs typeface="Arial"/>
              </a:rPr>
              <a:t>Alcance y usuarios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82D79-EBE3-4D22-A843-CA2D1360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D9E88-82B5-4A01-BA9B-E5E58902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Cliente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5EB67-9E55-47F6-9231-D77DF80D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Elige servicio y barbero.</a:t>
            </a:r>
          </a:p>
          <a:p xmlns:a="http://schemas.openxmlformats.org/drawingml/2006/main"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Consulta horarios.</a:t>
            </a:r>
          </a:p>
          <a:p xmlns:a="http://schemas.openxmlformats.org/drawingml/2006/main"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Registra y confirma su cita.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45717-C9FB-469F-82FD-A18D8D78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Administrador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77267-0EF2-44D7-B740-41DF8098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Mantiene la agenda y los horarios.</a:t>
            </a:r>
          </a:p>
          <a:p xmlns:a="http://schemas.openxmlformats.org/drawingml/2006/main"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Reprograma o cancela citas.</a:t>
            </a:r>
          </a:p>
          <a:p xmlns:a="http://schemas.openxmlformats.org/drawingml/2006/main"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Consulta clientes e historial.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2CCF0-0EA8-440E-8F47-435C2331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Fuera del alcance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28953-E84A-45F1-B53D-59E227D4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Pagos, inventario y recordatorios automáticos.</a:t>
            </a:r>
          </a:p>
        </p:txBody>
      </p:sp>
    </p:spTree>
    <p:extLst>
      <p:ext uri="{BB962C8B-B14F-4D97-AF65-F5344CB8AC3E}">
        <p14:creationId xmlns:p14="http://schemas.microsoft.com/office/powerpoint/2010/main" val="19567798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E5F59-BE8F-44D0-BAD0-90E18B1D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9201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2019"/>
                </a:solidFill>
                <a:latin typeface="Arial"/>
                <a:ea typeface="Arial"/>
                <a:cs typeface="Arial"/>
              </a:rPr>
              <a:t>Arquitectura del sistema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0C623-FB86-4986-AEF7-468D2510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0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05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8d572f62ad408b"/>
          <a:stretch xmlns:a="http://schemas.openxmlformats.org/drawingml/2006/main"/>
        </p:blipFill>
        <p:spPr>
          <a:xfrm xmlns:a="http://schemas.openxmlformats.org/drawingml/2006/main">
            <a:off x="523875" y="1789748"/>
            <a:ext cx="11144250" cy="289750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B193A-1834-4690-AECF-CD45C546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9201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2019"/>
                </a:solidFill>
                <a:latin typeface="Arial"/>
                <a:ea typeface="Arial"/>
                <a:cs typeface="Arial"/>
              </a:rPr>
              <a:t>El servidor controla permisos, disponibilidad y transacciones.</a:t>
            </a:r>
          </a:p>
        </p:txBody>
      </p:sp>
    </p:spTree>
    <p:extLst>
      <p:ext uri="{BB962C8B-B14F-4D97-AF65-F5344CB8AC3E}">
        <p14:creationId xmlns:p14="http://schemas.microsoft.com/office/powerpoint/2010/main" val="16458546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EF654-C871-4A2C-AB10-7AA0F0F6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92019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92019"/>
                </a:solidFill>
                <a:latin typeface="Arial"/>
                <a:ea typeface="Arial"/>
                <a:cs typeface="Arial"/>
              </a:rPr>
              <a:t>Modelo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0971F-E7DF-4103-A3AC-74164FFE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05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05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1e7bb7a474c81"/>
          <a:stretch xmlns:a="http://schemas.openxmlformats.org/drawingml/2006/main"/>
        </p:blipFill>
        <p:spPr>
          <a:xfrm xmlns:a="http://schemas.openxmlformats.org/drawingml/2006/main">
            <a:off x="1333500" y="1273904"/>
            <a:ext cx="9525000" cy="48912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9247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920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EC42E9-CB43-44A7-B766-02A760B8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3F0E7"/>
                </a:solidFill>
                <a:latin typeface="Arial"/>
                <a:ea typeface="Arial"/>
                <a:cs typeface="Arial"/>
              </a:rPr>
              <a:t>Reglas de disponibilidad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EFF23-9EB1-4F2E-A8C5-8FB4239E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B8328-D9B9-41A9-80E3-D75260F6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478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82DEA-D5C0-4AB1-8791-C0B5CE75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724025"/>
            <a:ext cx="923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Duración completa dentro de la jornada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D2C00-6BA3-40AD-BB5C-EC21B313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7177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0AC88-85AA-4F4D-9AE1-17279D37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47975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Sin descansos, bloqueos ni citas superpuestas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E37D5-FD39-4B69-A6D2-952AF447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957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A8291-5140-42FC-BF7D-E0CC76D0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71925"/>
            <a:ext cx="923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Nueva validación al confirmar la reserva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5C49A-F86D-488C-9ADA-EC316112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Ejemplo: 10:00–10:30 y 10:15–10:45 se cruzan.</a:t>
            </a:r>
          </a:p>
        </p:txBody>
      </p:sp>
    </p:spTree>
    <p:extLst>
      <p:ext uri="{BB962C8B-B14F-4D97-AF65-F5344CB8AC3E}">
        <p14:creationId xmlns:p14="http://schemas.microsoft.com/office/powerpoint/2010/main" val="2783627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920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39D15-80F8-4413-9DBD-C1767F8D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3F0E7"/>
                </a:solidFill>
                <a:latin typeface="Arial"/>
                <a:ea typeface="Arial"/>
                <a:cs typeface="Arial"/>
              </a:rPr>
              <a:t>Recorrido del cliente y del administrador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86756-DE44-45C3-B7EF-D405A260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a96904722249d5"/>
          <a:stretch xmlns:a="http://schemas.openxmlformats.org/drawingml/2006/main"/>
        </p:blipFill>
        <p:spPr>
          <a:xfrm xmlns:a="http://schemas.openxmlformats.org/drawingml/2006/main">
            <a:off x="1293939" y="1400175"/>
            <a:ext cx="3889121" cy="3381375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f39dff877545ae"/>
          <a:stretch xmlns:a="http://schemas.openxmlformats.org/drawingml/2006/main"/>
        </p:blipFill>
        <p:spPr>
          <a:xfrm xmlns:a="http://schemas.openxmlformats.org/drawingml/2006/main">
            <a:off x="6740236" y="1400175"/>
            <a:ext cx="4426527" cy="3381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83FE6-238F-4E4C-8D0B-D0C72453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4347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Reserva pública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5F1B6-688B-484D-84F0-BDF4081D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4347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Gestión de la agenda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B617C-AC51-453D-8C4C-74B7FACD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Reservar, localizar la cita, reprogramar y conservar el historial.</a:t>
            </a:r>
          </a:p>
        </p:txBody>
      </p:sp>
    </p:spTree>
    <p:extLst>
      <p:ext uri="{BB962C8B-B14F-4D97-AF65-F5344CB8AC3E}">
        <p14:creationId xmlns:p14="http://schemas.microsoft.com/office/powerpoint/2010/main" val="14325294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920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5C87E6-7D92-4BA5-A798-0B50D049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3F0E7"/>
                </a:solidFill>
                <a:latin typeface="Arial"/>
                <a:ea typeface="Arial"/>
                <a:cs typeface="Arial"/>
              </a:rPr>
              <a:t>Pruebas funcionales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ACBE3F-F141-42E3-BAA2-D591F9B2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4B35D-54CA-45C9-8164-B6DE46C2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700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0435B-19B8-4103-8401-5D77CDA1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57575"/>
            <a:ext cx="400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casos ejecutables aprobados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F8BB2-8D41-4780-9AFB-234598AE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0 fallos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0367E-9B78-448C-B72B-97AAA325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38450"/>
            <a:ext cx="48577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Validaciones y permisos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Reservas y cambios de estado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Concurrencia y recorrido visual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AC9418-BCDD-407E-B126-4AF55172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769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El registro suma 27 resultados al incluir el grupo de integración.</a:t>
            </a:r>
          </a:p>
        </p:txBody>
      </p:sp>
    </p:spTree>
    <p:extLst>
      <p:ext uri="{BB962C8B-B14F-4D97-AF65-F5344CB8AC3E}">
        <p14:creationId xmlns:p14="http://schemas.microsoft.com/office/powerpoint/2010/main" val="21158163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920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24DB2A-3CDE-40E7-B928-5DDE868D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3F0E7"/>
                </a:solidFill>
                <a:latin typeface="Arial"/>
                <a:ea typeface="Arial"/>
                <a:cs typeface="Arial"/>
              </a:rPr>
              <a:t>Reservas simultáneas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6C4B2-79E7-4935-9D72-9849CC00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98D8F-6802-4681-B784-2BE32847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1447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20 intentos al mismo horario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E9E62-E311-4713-8A5B-E0F7FB6B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381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400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154A8-6B8E-4538-8BBD-37E00EB0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reserva creada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987DD-7F7B-4B50-9893-BE6DD551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6700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400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1D83B-A3F1-4F7F-870D-36DD10BB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6245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rechazos por conflicto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7DF84-64BE-41B2-896A-60679035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054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La transacción vuelve a comprobar el intervalo antes de guardar.</a:t>
            </a:r>
          </a:p>
        </p:txBody>
      </p:sp>
    </p:spTree>
    <p:extLst>
      <p:ext uri="{BB962C8B-B14F-4D97-AF65-F5344CB8AC3E}">
        <p14:creationId xmlns:p14="http://schemas.microsoft.com/office/powerpoint/2010/main" val="16042562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920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F5A702-004F-423D-8CCA-5C01529F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3F0E7"/>
                </a:solidFill>
                <a:latin typeface="Arial"/>
                <a:ea typeface="Arial"/>
                <a:cs typeface="Arial"/>
              </a:rPr>
              <a:t>Evaluación de calidad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D1273-2C86-41D9-8A1F-C9B89598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526D7-86A4-44FC-B425-22CEA63C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23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16.5 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2A2AA-86EC-4209-98D8-FAAD70F8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05125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mediana de consulta de disponibilidad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87853-D051-403B-A0DC-0D08BF0F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25.9 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3E14B-2430-439F-B30F-E9FCF0C4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0512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máximo observado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95E33-FC27-46EE-AB7F-1B7FD54D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20 consultas secuenciales en un entorno local con pocos datos.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EE76E-B22F-4123-B38D-D8F8F7CE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9592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Acceso administrativo protegido y vista móvil comprobada.</a:t>
            </a:r>
          </a:p>
        </p:txBody>
      </p:sp>
    </p:spTree>
    <p:extLst>
      <p:ext uri="{BB962C8B-B14F-4D97-AF65-F5344CB8AC3E}">
        <p14:creationId xmlns:p14="http://schemas.microsoft.com/office/powerpoint/2010/main" val="20032155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920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6B479-AF74-423F-8046-2AB5C783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3F0E7"/>
                </a:solidFill>
                <a:latin typeface="Arial"/>
                <a:ea typeface="Arial"/>
                <a:cs typeface="Arial"/>
              </a:rPr>
              <a:t>Límites y mejoras pendientes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DCBBA-2A16-4976-A023-99C0C9CD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AC634-C858-49DC-9C86-66AC8410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Evaluación adicional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5463E-5629-4176-BAE5-65E887BB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Pruebas con usuarios reales.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Más volumen de datos y mayor carga.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Firefox y Safari.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0AE7B-6D7F-4A0E-89A8-A77846FF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Preparación para uso real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F497D-B4DD-4E22-8222-38258917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8600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Validar políticas con el negocio.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Preparar el despliegue y los respaldos.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Completar el flujo de citas pendientes si se requiere.</a:t>
            </a:r>
          </a:p>
        </p:txBody>
      </p:sp>
    </p:spTree>
    <p:extLst>
      <p:ext uri="{BB962C8B-B14F-4D97-AF65-F5344CB8AC3E}">
        <p14:creationId xmlns:p14="http://schemas.microsoft.com/office/powerpoint/2010/main" val="9241495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920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C5F41-E393-4C80-9175-2833F619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3F0E7"/>
                </a:solidFill>
                <a:latin typeface="Arial"/>
                <a:ea typeface="Arial"/>
                <a:cs typeface="Arial"/>
              </a:rPr>
              <a:t>Conclusiones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A49A5-8027-4627-816B-F69B9FC9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EE832-6299-4D19-BB77-F7F504A4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Una agenda compartida con</a:t>
            </a:r>
          </a:p>
          <a:p xmlns:a="http://schemas.openxmlformats.org/drawingml/2006/main">
            <a:pPr>
              <a:defRPr sz="4050" b="1">
                <a:solidFill>
                  <a:srgbClr val="DABD7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DABD77"/>
                </a:solidFill>
                <a:latin typeface="Arial"/>
                <a:ea typeface="Arial"/>
                <a:cs typeface="Arial"/>
              </a:rPr>
              <a:t>reservas consistentes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FFDF8-B9BD-4296-B1B7-A1222BB2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14725"/>
            <a:ext cx="1028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El sistema conserva los cambios y controla los conflictos al guardar.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F3F0E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3F0E7"/>
                </a:solidFill>
                <a:latin typeface="Arial"/>
                <a:ea typeface="Arial"/>
                <a:cs typeface="Arial"/>
              </a:rPr>
              <a:t>Las pruebas respaldan el comportamiento observado en el entorno local.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98368-7A96-40B7-83F8-C8DEA6F9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150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EC6B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EC6BD"/>
                </a:solidFill>
                <a:latin typeface="Arial"/>
                <a:ea typeface="Arial"/>
                <a:cs typeface="Arial"/>
              </a:rPr>
              <a:t>Preguntas y demostración</a:t>
            </a:r>
          </a:p>
        </p:txBody>
      </p:sp>
    </p:spTree>
    <p:extLst>
      <p:ext uri="{BB962C8B-B14F-4D97-AF65-F5344CB8AC3E}">
        <p14:creationId xmlns:p14="http://schemas.microsoft.com/office/powerpoint/2010/main" val="15418609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2026-09-24T00:47:21.7650000Z</dcterms:created>
  <dcterms:modified xsi:type="dcterms:W3CDTF">2026-09-24T00:47:21.7650000Z</dcterms:modified>
</coreProperties>
</file>